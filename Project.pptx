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bas Neue Cyrillic" charset="1" panose="02000506000000020004"/>
      <p:regular r:id="rId13"/>
    </p:embeddedFont>
    <p:embeddedFont>
      <p:font typeface="Montserrat" charset="1" panose="00000500000000000000"/>
      <p:regular r:id="rId14"/>
    </p:embeddedFont>
    <p:embeddedFont>
      <p:font typeface="Canva Sans" charset="1" panose="020B0503030501040103"/>
      <p:regular r:id="rId15"/>
    </p:embeddedFont>
    <p:embeddedFont>
      <p:font typeface="Montserrat Medium" charset="1" panose="00000600000000000000"/>
      <p:regular r:id="rId16"/>
    </p:embeddedFont>
    <p:embeddedFont>
      <p:font typeface="Montserrat Semi-Bold" charset="1" panose="00000700000000000000"/>
      <p:regular r:id="rId17"/>
    </p:embeddedFont>
    <p:embeddedFont>
      <p:font typeface="Montserrat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459774" y="4187788"/>
            <a:ext cx="11368452" cy="230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1"/>
              </a:lnSpc>
            </a:pPr>
            <a:r>
              <a:rPr lang="en-US" sz="10626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Система за управление на библиотека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757579" y="9753149"/>
            <a:ext cx="4059168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Изготвила: Теодора Тодорова 11г  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9498" y="2016665"/>
            <a:ext cx="14152523" cy="4411896"/>
            <a:chOff x="0" y="0"/>
            <a:chExt cx="3727414" cy="1161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14" cy="1161981"/>
            </a:xfrm>
            <a:custGeom>
              <a:avLst/>
              <a:gdLst/>
              <a:ahLst/>
              <a:cxnLst/>
              <a:rect r="r" b="b" t="t" l="l"/>
              <a:pathLst>
                <a:path h="1161981" w="3727414">
                  <a:moveTo>
                    <a:pt x="0" y="0"/>
                  </a:moveTo>
                  <a:lnTo>
                    <a:pt x="3727414" y="0"/>
                  </a:lnTo>
                  <a:lnTo>
                    <a:pt x="3727414" y="1161981"/>
                  </a:lnTo>
                  <a:lnTo>
                    <a:pt x="0" y="116198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27414" cy="1200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512" y="1266903"/>
            <a:ext cx="1892038" cy="18920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3661" y="5595956"/>
            <a:ext cx="1665209" cy="166520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08389" y="1388505"/>
            <a:ext cx="1256320" cy="125632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2516133"/>
            <a:ext cx="5167682" cy="68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66007" indent="-633004" lvl="1">
              <a:lnSpc>
                <a:spcPts val="4691"/>
              </a:lnSpc>
              <a:buAutoNum type="arabicPeriod" startAt="1"/>
            </a:pPr>
            <a:r>
              <a:rPr lang="en-US" sz="5863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Цел на проекта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478767"/>
            <a:ext cx="6417795" cy="9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Целта е да се създаде приложение с използване на ООП принципи,което управлява библиотека.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92179"/>
            <a:ext cx="5167682" cy="68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66007" indent="-633004" lvl="1">
              <a:lnSpc>
                <a:spcPts val="4691"/>
              </a:lnSpc>
              <a:buAutoNum type="arabicPeriod" startAt="1"/>
            </a:pPr>
            <a:r>
              <a:rPr lang="en-US" sz="5863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UML диаграма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1294114"/>
            <a:ext cx="274409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структура на класовете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75947" y="-496215"/>
            <a:ext cx="11264060" cy="11375654"/>
            <a:chOff x="0" y="0"/>
            <a:chExt cx="2966666" cy="2996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6666" cy="2996057"/>
            </a:xfrm>
            <a:custGeom>
              <a:avLst/>
              <a:gdLst/>
              <a:ahLst/>
              <a:cxnLst/>
              <a:rect r="r" b="b" t="t" l="l"/>
              <a:pathLst>
                <a:path h="2996057" w="2966666">
                  <a:moveTo>
                    <a:pt x="0" y="0"/>
                  </a:moveTo>
                  <a:lnTo>
                    <a:pt x="2966666" y="0"/>
                  </a:lnTo>
                  <a:lnTo>
                    <a:pt x="2966666" y="2996057"/>
                  </a:lnTo>
                  <a:lnTo>
                    <a:pt x="0" y="2996057"/>
                  </a:lnTo>
                  <a:close/>
                </a:path>
              </a:pathLst>
            </a:custGeom>
            <a:gradFill rotWithShape="true">
              <a:gsLst>
                <a:gs pos="0">
                  <a:srgbClr val="F7ACFF">
                    <a:alpha val="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3C67BF">
                    <a:alpha val="23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66666" cy="3034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69758" y="-2139220"/>
            <a:ext cx="5214383" cy="52143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9854672">
            <a:off x="15424730" y="7256007"/>
            <a:ext cx="4004587" cy="40045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4393" y="2153963"/>
            <a:ext cx="7133612" cy="9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Класът Librarian представлява библиотекар, който има способност да добавя книги в библиотеката.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6662" y="1809519"/>
            <a:ext cx="262038" cy="26203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24393" y="1831888"/>
            <a:ext cx="5273263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Добавяне на книги(Librarian)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792179"/>
            <a:ext cx="6397656" cy="68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66007" indent="-633004" lvl="1">
              <a:lnSpc>
                <a:spcPts val="4691"/>
              </a:lnSpc>
              <a:buAutoNum type="arabicPeriod" startAt="1"/>
            </a:pPr>
            <a:r>
              <a:rPr lang="en-US" sz="5863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функционалности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6662" y="3387570"/>
            <a:ext cx="262038" cy="26203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24393" y="3412368"/>
            <a:ext cx="5357124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Показване на налични книги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4393" y="3739111"/>
            <a:ext cx="6350902" cy="61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Показването на наличните книги е предсавено в метода Main.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6662" y="4658129"/>
            <a:ext cx="262038" cy="26203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24393" y="4682926"/>
            <a:ext cx="3344440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Заемане на книги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4393" y="5009670"/>
            <a:ext cx="7133612" cy="61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Заемането на книги е показано в класа Student чрез метода</a:t>
            </a:r>
            <a:r>
              <a:rPr lang="en-US" sz="2142" b="true">
                <a:solidFill>
                  <a:srgbClr val="A28FC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sz="2142" b="true">
                <a:solidFill>
                  <a:srgbClr val="8978B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void BorrowBook().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66662" y="5929817"/>
            <a:ext cx="262038" cy="26203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24393" y="5949918"/>
            <a:ext cx="3540117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Връщане на книги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4393" y="6276662"/>
            <a:ext cx="7133612" cy="61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Връщането на книги е показано в класа Student чрез метода</a:t>
            </a:r>
            <a:r>
              <a:rPr lang="en-US" sz="2142" b="true">
                <a:solidFill>
                  <a:srgbClr val="A28FC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sz="2142" b="true">
                <a:solidFill>
                  <a:srgbClr val="8978B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void ReturnBook().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66662" y="7201505"/>
            <a:ext cx="262038" cy="26203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24393" y="7216911"/>
            <a:ext cx="7715231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Създаване на профили за потребители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4393" y="7543655"/>
            <a:ext cx="7133612" cy="61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Създаването на профил за потребители е в клас User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3958" y="3992808"/>
            <a:ext cx="1256320" cy="12563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75165" y="7653473"/>
            <a:ext cx="1256320" cy="125632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24578" y="990165"/>
            <a:ext cx="1256320" cy="125632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02279" y="-313682"/>
            <a:ext cx="3185721" cy="31857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403566" y="1871985"/>
            <a:ext cx="884434" cy="88443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198854" y="2087437"/>
            <a:ext cx="13890292" cy="7170863"/>
          </a:xfrm>
          <a:custGeom>
            <a:avLst/>
            <a:gdLst/>
            <a:ahLst/>
            <a:cxnLst/>
            <a:rect r="r" b="b" t="t" l="l"/>
            <a:pathLst>
              <a:path h="7170863" w="13890292">
                <a:moveTo>
                  <a:pt x="0" y="0"/>
                </a:moveTo>
                <a:lnTo>
                  <a:pt x="13890292" y="0"/>
                </a:lnTo>
                <a:lnTo>
                  <a:pt x="13890292" y="7170863"/>
                </a:lnTo>
                <a:lnTo>
                  <a:pt x="0" y="7170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0" y="753644"/>
            <a:ext cx="6397656" cy="68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66007" indent="-633004" lvl="1">
              <a:lnSpc>
                <a:spcPts val="4691"/>
              </a:lnSpc>
              <a:buAutoNum type="arabicPeriod" startAt="1"/>
            </a:pPr>
            <a:r>
              <a:rPr lang="en-US" sz="5863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демонстрация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23420" y="5555015"/>
            <a:ext cx="7406570" cy="740657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15555" y="-2972715"/>
            <a:ext cx="5214383" cy="52143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4398" y="8586670"/>
            <a:ext cx="1343260" cy="13432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23420" y="1477600"/>
            <a:ext cx="1343260" cy="13432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7681" y="1706380"/>
            <a:ext cx="262038" cy="26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32701" y="2564155"/>
            <a:ext cx="4450186" cy="599392"/>
          </a:xfrm>
          <a:custGeom>
            <a:avLst/>
            <a:gdLst/>
            <a:ahLst/>
            <a:cxnLst/>
            <a:rect r="r" b="b" t="t" l="l"/>
            <a:pathLst>
              <a:path h="599392" w="4450186">
                <a:moveTo>
                  <a:pt x="0" y="0"/>
                </a:moveTo>
                <a:lnTo>
                  <a:pt x="4450186" y="0"/>
                </a:lnTo>
                <a:lnTo>
                  <a:pt x="4450186" y="599392"/>
                </a:lnTo>
                <a:lnTo>
                  <a:pt x="0" y="599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97681" y="3878822"/>
            <a:ext cx="262038" cy="26203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32701" y="5555015"/>
            <a:ext cx="4035632" cy="3410394"/>
          </a:xfrm>
          <a:custGeom>
            <a:avLst/>
            <a:gdLst/>
            <a:ahLst/>
            <a:cxnLst/>
            <a:rect r="r" b="b" t="t" l="l"/>
            <a:pathLst>
              <a:path h="3410394" w="4035632">
                <a:moveTo>
                  <a:pt x="0" y="0"/>
                </a:moveTo>
                <a:lnTo>
                  <a:pt x="4035633" y="0"/>
                </a:lnTo>
                <a:lnTo>
                  <a:pt x="4035633" y="3410394"/>
                </a:lnTo>
                <a:lnTo>
                  <a:pt x="0" y="341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0" y="795007"/>
            <a:ext cx="6397656" cy="68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66007" indent="-633004" lvl="1">
              <a:lnSpc>
                <a:spcPts val="4691"/>
              </a:lnSpc>
              <a:buAutoNum type="arabicPeriod" startAt="1"/>
            </a:pPr>
            <a:r>
              <a:rPr lang="en-US" sz="5863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ООП принципи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2701" y="1731177"/>
            <a:ext cx="2449913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Наследяване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2701" y="3903619"/>
            <a:ext cx="2897177" cy="3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Инкапсулация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2701" y="2090631"/>
            <a:ext cx="7552922" cy="31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Класовете Student и Librarian наследяват класа User.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2701" y="4258938"/>
            <a:ext cx="7552922" cy="9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Имаме инкапсулация в класа User. Полето </a:t>
            </a:r>
            <a:r>
              <a:rPr lang="en-US" sz="2142" b="true">
                <a:solidFill>
                  <a:srgbClr val="844C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name</a:t>
            </a:r>
            <a:r>
              <a:rPr lang="en-US" sz="2142">
                <a:solidFill>
                  <a:srgbClr val="844C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е </a:t>
            </a:r>
            <a:r>
              <a:rPr lang="en-US" sz="2142" b="true">
                <a:solidFill>
                  <a:srgbClr val="844C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protected</a:t>
            </a: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, което означава, че не може да се достъпва директно от външни обекти,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90585" y="2272128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30868" y="2700075"/>
            <a:ext cx="2801584" cy="280158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93483" y="4117943"/>
            <a:ext cx="8101033" cy="247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1"/>
              </a:lnSpc>
            </a:pPr>
            <a:r>
              <a:rPr lang="en-US" sz="11501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Благодаря</a:t>
            </a:r>
          </a:p>
          <a:p>
            <a:pPr algn="ctr">
              <a:lnSpc>
                <a:spcPts val="9201"/>
              </a:lnSpc>
            </a:pPr>
            <a:r>
              <a:rPr lang="en-US" sz="11501">
                <a:solidFill>
                  <a:srgbClr val="24096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за вниманието!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07398" y="7674548"/>
            <a:ext cx="884434" cy="8844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04328" y="2700075"/>
            <a:ext cx="884434" cy="8844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84573" y="2500387"/>
            <a:ext cx="641905" cy="64190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DAG-N0uzcdM</dc:identifier>
  <dcterms:modified xsi:type="dcterms:W3CDTF">2011-08-01T06:04:30Z</dcterms:modified>
  <cp:revision>1</cp:revision>
  <dc:title>Project</dc:title>
</cp:coreProperties>
</file>